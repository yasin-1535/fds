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PREDICT &amp; RETAIN</a:t>
            </a:r>
          </a:p>
          <a:p>
            <a:pPr algn="l">
              <a:spcBef>
                <a:spcPts val="1000"/>
              </a:spcBef>
              <a:defRPr sz="2400" b="1">
                <a:solidFill>
                  <a:srgbClr val="3B82F6"/>
                </a:solidFill>
              </a:defRPr>
            </a:pPr>
            <a:r>
              <a:t>Data-Driven HR Employee Attrition &amp; Workforce Analytics</a:t>
            </a:r>
          </a:p>
          <a:p>
            <a:pPr algn="l">
              <a:spcBef>
                <a:spcPts val="1500"/>
              </a:spcBef>
              <a:defRPr sz="1400">
                <a:solidFill>
                  <a:srgbClr val="E0E7FF"/>
                </a:solidFill>
              </a:defRPr>
            </a:pPr>
            <a:r>
              <a:t>Comprehensive Exploratory Analysis, Inferential Validation &amp; Interactive Decision Support</a:t>
            </a:r>
          </a:p>
          <a:p>
            <a:pPr algn="l">
              <a:spcBef>
                <a:spcPts val="2500"/>
              </a:spcBef>
              <a:defRPr sz="1200">
                <a:solidFill>
                  <a:srgbClr val="93C5FD"/>
                </a:solidFill>
              </a:defRPr>
            </a:pPr>
            <a:r>
              <a:t>Domain: Foundations of Data Science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PREDICT &amp; RETAIN — HR WORKFORCE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Problem Statement: The Hidden Cost of Talent Turnover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3A8A"/>
                </a:solidFill>
              </a:defRPr>
            </a:pPr>
            <a:r>
              <a:t>Operational Disruption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Voluntary departures cause project bottlenecks and loss of institutional capability.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Replacement expenses typically range between 50% and 200% of annual salary per role.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Increased workload on remaining personnel elevates attrition risk across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3A8A"/>
                </a:solidFill>
              </a:defRPr>
            </a:pPr>
            <a:r>
              <a:t>Core Business Dilemmas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Which operating units and job functions suffer disproportional turnover rates?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Does compensation explain attrition, or do acute workplace stressors dominate?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What empirical impact does mandatory overtime have on employee retention?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Can early-tenure vulnerability be identified in the first 24 months?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3A8A"/>
                </a:solidFill>
              </a:defRPr>
            </a:pPr>
            <a:r>
              <a:t>The Data Science Shift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Transition from reactive exit interviews to evidence-based workforce analytics.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Rigorous statistical validation (Chi-square, Welch's t-test) of operational hypotheses.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Deploying interactive decision intelligence for proactive HR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PREDICT &amp; RETAIN — HR WORKFORCE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Project Objectives &amp; Analytical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5564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Objective 1: Quantify Attrition Risk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</a:defRPr>
            </a:pPr>
            <a:r>
              <a:t>Measure baseline and segmented turnover rates across Research &amp; Development, Sales, and Human Resources divisions, as well as 9 distinct organizational job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4436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Objective 2: Compensation Architecture Analysis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</a:defRPr>
            </a:pPr>
            <a:r>
              <a:t>Evaluate income distributions, median/mean disparities, and statistical significance tests between departing ($4,787) and retained ($6,833) personnel cohorts.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3308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Objective 3: Workplace Stress &amp; Commute Evaluation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</a:defRPr>
            </a:pPr>
            <a:r>
              <a:t>Analyze the observational relationships between mandatory overtime status (30.5% vs 10.4%), commute distance (&gt;20 km vs 0-5 km), and employee turnover.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6984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21808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Objective 4: Interactive Dashboard &amp; Decision Support</a:t>
            </a:r>
          </a:p>
          <a:p>
            <a:pPr>
              <a:spcBef>
                <a:spcPts val="300"/>
              </a:spcBef>
              <a:defRPr sz="1150">
                <a:solidFill>
                  <a:srgbClr val="0F172A"/>
                </a:solidFill>
              </a:defRPr>
            </a:pPr>
            <a:r>
              <a:t>Deliver a dynamic Streamlit application with live KPI metrics, multi-criteria filtering (Department, Role, Overtime, Travel), and actionable HR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PREDICT &amp; RETAIN — HR WORKFORCE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Dataset Overview: IBM HR Analytics Benchmark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</a:defRPr>
            </a:pPr>
            <a:r>
              <a:t>1,470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Total Employee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</a:defRPr>
            </a:pPr>
            <a:r>
              <a:t>35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Initial Workforce Variables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F4444"/>
                </a:solidFill>
              </a:defRPr>
            </a:pPr>
            <a:r>
              <a:t>16.12%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Baseline Attrition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5448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6459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Data Completeness (0 Nulls)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698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3A8A"/>
                </a:solidFill>
              </a:defRPr>
            </a:pPr>
            <a:r>
              <a:t>Dataset Characteristics &amp; Analytical Fields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E3A8A"/>
                </a:solidFill>
              </a:rPr>
              <a:t>Target Variable: </a:t>
            </a:r>
            <a:r>
              <a:rPr sz="1200">
                <a:solidFill>
                  <a:srgbClr val="0F172A"/>
                </a:solidFill>
              </a:rPr>
              <a:t>Attrition ('Yes' = 237, 'No' = 1,233). Baseline turnover is exactly 16.12%.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E3A8A"/>
                </a:solidFill>
              </a:rPr>
              <a:t>Demographics &amp; Experience: </a:t>
            </a:r>
            <a:r>
              <a:rPr sz="1200">
                <a:solidFill>
                  <a:srgbClr val="0F172A"/>
                </a:solidFill>
              </a:rPr>
              <a:t>Age (18-60), Education, EducationField, TotalWorkingYears, YearsAtCompany (0-40).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E3A8A"/>
                </a:solidFill>
              </a:rPr>
              <a:t>Organizational Structure: </a:t>
            </a:r>
            <a:r>
              <a:rPr sz="1200">
                <a:solidFill>
                  <a:srgbClr val="0F172A"/>
                </a:solidFill>
              </a:rPr>
              <a:t>Department (R&amp;D: 961, Sales: 446, HR: 63), JobRole (9 distinct titles), JobLevel (1-5).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E3A8A"/>
                </a:solidFill>
              </a:rPr>
              <a:t>Compensation &amp; Performance: </a:t>
            </a:r>
            <a:r>
              <a:rPr sz="1200">
                <a:solidFill>
                  <a:srgbClr val="0F172A"/>
                </a:solidFill>
              </a:rPr>
              <a:t>MonthlyIncome ($1,009 to $19,999), PercentSalaryHike, PerformanceRating, StockOptionLevel.</a:t>
            </a:r>
          </a:p>
          <a:p>
            <a:pPr>
              <a:spcAft>
                <a:spcPts val="500"/>
              </a:spcAft>
            </a:pPr>
            <a:r>
              <a:rPr b="1" sz="1200">
                <a:solidFill>
                  <a:srgbClr val="1E3A8A"/>
                </a:solidFill>
              </a:rPr>
              <a:t>Workplace Stress &amp; Surveys: </a:t>
            </a:r>
            <a:r>
              <a:rPr sz="1200">
                <a:solidFill>
                  <a:srgbClr val="0F172A"/>
                </a:solidFill>
              </a:rPr>
              <a:t>OverTime ('Yes': 416, 'No': 1,054), DistanceFromHome (1-29 km), JobSatisfaction (1-4), WorkLifeBalance (1-4).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PREDICT &amp; RETAIN — HR WORKFORCE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Data Cleaning &amp; Feature Engineering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3A8A"/>
                </a:solidFill>
              </a:defRPr>
            </a:pPr>
            <a:r>
              <a:t>Rigorous Data Cleaning Protocol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✔ Zero Missing Values: Confirmed complete 1,470 x 35 records with no null imputations required.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✔ Zero Duplicate Rows: Confirmed unique employee identifiers.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✔ Constant Column Audit: Identified uninformative administrative constants (EmployeeCount=1, Over18='Y', StandardHours=80).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✔ Categorical Validation: Verified standardized label encoding across departments, roles, and travel tiers.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✔ Outlier Preservation: Preserved legitimate high incomes ($20k) and senior tenures (40 yrs) to reflect genuine workforce hierarchy.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B82F6"/>
                </a:solidFill>
              </a:defRPr>
            </a:pPr>
            <a:r>
              <a:t>Feature Engineering Implementations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⚡ Attrition_Num: Created binary target mapping (Yes -&gt; 1, No -&gt; 0) enabling mathematical aggregation and correlation.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⚡ TenureRatio: Ratio of company longevity relative to chronological age (YearsAtCompany / Age) with safe denominator safeguards.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⚡ TenureGroup: Segmented career longevity into 0-2 yrs (probation), 3-5 yrs, 6-10 yrs, and 11+ yrs (veteran).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⚡ DistanceBand: Segmented commute distance into 0-5 km, 6-10 km, 11-20 km, and 21+ km.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⚡ Final Dataset Validation: Successfully generated and verified data/final_dataset.csv (1,470 rows x 39 columns).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PREDICT &amp; RETAIN — HR WORKFORCE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Exploratory Data Analysis: Workforce Summary</a:t>
            </a:r>
          </a:p>
        </p:txBody>
      </p:sp>
      <p:pic>
        <p:nvPicPr>
          <p:cNvPr id="4" name="Picture 3" descr="eda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8855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82880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1E3A8A"/>
                </a:solidFill>
              </a:defRPr>
            </a:pPr>
            <a:r>
              <a:t>Key Workforce Observations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Overall Workforce Distribution: 83.88% of employees remain retained (1,233 staff) against a 16.12% attrition baseline (237 staff).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Departmental Differences: Sales exhibits an observed attrition rate of 20.63%, Human Resources 19.05%, and Research &amp; Development 13.84%.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Role Variation: Highest observed attrition occurs in Sales Representatives (39.76%), Laboratory Technicians (23.94%), and Human Resources (23.08%).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Lowest Turnover Roles: Research Directors (2.50%) and Managers (4.90%) exhibit the lowest observed attrition 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PREDICT &amp; RETAIN — HR WORKFORCE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Critical Drivers: Overtime Burden &amp; Compensation Gap</a:t>
            </a:r>
          </a:p>
        </p:txBody>
      </p:sp>
      <p:pic>
        <p:nvPicPr>
          <p:cNvPr id="4" name="Picture 3" descr="overtime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722914"/>
          </a:xfrm>
          <a:prstGeom prst="rect">
            <a:avLst/>
          </a:prstGeom>
        </p:spPr>
      </p:pic>
      <p:pic>
        <p:nvPicPr>
          <p:cNvPr id="5" name="Picture 4" descr="income_attr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21717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212080"/>
            <a:ext cx="106984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Statistical Hypothesis Testing Results: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Overtime Association: Attrition is 30.53% for overtime staff vs 10.44% without overtime (Chi2 = 87.5643, p = 8.16e-21). Statistically highly significant.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Compensation Gap: Retained personnel earn mean $6,832.74 (median $5,204) vs $4,787.09 (median $3,202) for departed staff (gap: $2,045.65, Welch t = -7.4826, p = 4.43e-13).</a:t>
            </a:r>
          </a:p>
          <a:p>
            <a:pPr>
              <a:defRPr sz="950" i="1">
                <a:solidFill>
                  <a:srgbClr val="64748B"/>
                </a:solidFill>
              </a:defRPr>
            </a:pPr>
            <a:r>
              <a:t>• Note: Project spec reference salaries were ~$11,330 vs ~$9,592. Actual calculated values from dataset are $6,833 vs $4,787 (p &lt; 0.001); direction is identical.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PREDICT &amp; RETAIN — HR WORKFORCE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Workplace Dynamics: Tenure, Sentiment &amp; Commute</a:t>
            </a:r>
          </a:p>
        </p:txBody>
      </p:sp>
      <p:pic>
        <p:nvPicPr>
          <p:cNvPr id="4" name="Picture 3" descr="tenure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383280" cy="2114550"/>
          </a:xfrm>
          <a:prstGeom prst="rect">
            <a:avLst/>
          </a:prstGeom>
        </p:spPr>
      </p:pic>
      <p:pic>
        <p:nvPicPr>
          <p:cNvPr id="5" name="Picture 4" descr="satisfaction_attr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5920"/>
            <a:ext cx="3383280" cy="2114550"/>
          </a:xfrm>
          <a:prstGeom prst="rect">
            <a:avLst/>
          </a:prstGeom>
        </p:spPr>
      </p:pic>
      <p:pic>
        <p:nvPicPr>
          <p:cNvPr id="6" name="Picture 5" descr="distance_attr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45920"/>
            <a:ext cx="3383280" cy="21145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846320"/>
            <a:ext cx="10698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Key Observational Insights: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1. Early Tenure Window: Employees in years 0–2 exhibit 29.82% attrition, which drops sharply to 13.82% in years 3–5 and 8.13% beyond 11 years.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2. Sentiment Compounding: Low job satisfaction produces 22.84% attrition (vs 11.33% at level 4). Combined with poor work-life balance, attrition exceeds 40%.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3. Commute Distance Friction: Commuters traveling &gt;20 km exhibit 22.06% attrition compared to 13.77% for staff residing within 5 km.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PREDICT &amp; RETAIN — HR WORKFORCE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Interactive Streamlit Dashboard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3A8A"/>
                </a:solidFill>
              </a:defRPr>
            </a:pPr>
            <a:r>
              <a:t>Production Dashboard Capabilities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✔ Dynamic KPI Metrics Ribbon: Total Employees, Departed Count, Live Attrition Rate (color-coded vs 16.1% baseline), and Average Monthly Income.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✔ Multi-Dimensional Sidebar Filters: Dynamic cascading dropdowns for Department, Job Role, Overtime Status, and Business Travel.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✔ Zero-Row Safe Execution: Gracefully handles narrow query combinations without breaking or throwing runtime errors.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✔ Execution Command: streamlit run dashboard/app.py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</a:defRPr>
            </a:pPr>
            <a:r>
              <a:t>Structured Exploration Modules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Section A: Workforce Overview: </a:t>
            </a:r>
            <a:r>
              <a:rPr sz="1050">
                <a:solidFill>
                  <a:srgbClr val="0F172A"/>
                </a:solidFill>
              </a:rPr>
              <a:t>Interactive donut composition, department comparisons, and sorted job role turnover charts.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Section B: Compensation &amp; Tenure: </a:t>
            </a:r>
            <a:r>
              <a:rPr sz="1050">
                <a:solidFill>
                  <a:srgbClr val="0F172A"/>
                </a:solidFill>
              </a:rPr>
              <a:t>Income distribution boxplots, density histograms, tenure bands, and TenureRatio boxplots.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Section C: Workplace &amp; Satisfaction: </a:t>
            </a:r>
            <a:r>
              <a:rPr sz="1050">
                <a:solidFill>
                  <a:srgbClr val="0F172A"/>
                </a:solidFill>
              </a:rPr>
              <a:t>Overtime rate comparisons, survey score breakdowns, and satisfaction × work-life interaction heatmaps.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Section D: Commute Analysis: </a:t>
            </a:r>
            <a:r>
              <a:rPr sz="1050">
                <a:solidFill>
                  <a:srgbClr val="0F172A"/>
                </a:solidFill>
              </a:rPr>
              <a:t>Distance distribution histograms and distance band turnover evaluations.</a:t>
            </a:r>
          </a:p>
          <a:p>
            <a:pPr>
              <a:spcAft>
                <a:spcPts val="500"/>
              </a:spcAft>
            </a:pPr>
            <a:r>
              <a:rPr b="1" sz="1100">
                <a:solidFill>
                  <a:srgbClr val="1E3A8A"/>
                </a:solidFill>
              </a:rPr>
              <a:t>• Section E: Key Insights &amp; Evidence: </a:t>
            </a:r>
            <a:r>
              <a:rPr sz="1050">
                <a:solidFill>
                  <a:srgbClr val="0F172A"/>
                </a:solidFill>
              </a:rPr>
              <a:t>Dynamically calculated metric summaries and evidence-based HR recommendations.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PREDICT &amp; RETAIN — HR WORKFORCE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Summary of Key Analytical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1. Overtime Disparity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Employees working overtime exhibit a 30.53% attrition rate vs 10.44% for non-overtime peers (+20.09 percentage points, Chi2 = 87.56, p &lt; 0.001).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73736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2. Compensation Gap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Retained staff average $6,832.74 monthly earnings vs $4,787.09 for departed personnel ($2,045.65 gap, Welch t = -7.48, p &lt; 0.001).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3. The 0–2 Year Vulnerability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Nearly 30% of employees with under 2 years of tenure exit the firm (29.82%), stabilizing to 13.82% in years 3–5 and 8.13% after 11 years.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0040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29184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4. Role Disparity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Observed attrition rates are highest in Sales Representatives (39.76%), Laboratory Technicians (23.94%), and Human Resources (23.08%).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5. Sentiment Interaction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Employees reporting low job satisfaction AND poor work-life balance experience peak attrition rates exceeding 40%.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754880"/>
            <a:ext cx="5257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846320"/>
            <a:ext cx="4983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6. Commute Distance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</a:defRPr>
            </a:pPr>
            <a:r>
              <a:t>Commuting beyond 20 km elevates observed attrition to 22.06% compared to 13.77% for staff living within 5 km.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PREDICT &amp; RETAIN — HR WORKFORCE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Strategic HR Action Plan: Evidence-Based Retention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1. Overtime Governance &amp; Workload Audits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Establish workload monitoring protocols for staff with recurring OverTime status. Rebalance department headcounts to mitigate prolonged overtime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877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B82F6"/>
                </a:solidFill>
              </a:defRPr>
            </a:pPr>
            <a:r>
              <a:t>2. Competitive Compensation Calibration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Conduct market median salary benchmarking specifically for roles exhibiting elevated turnover (Laboratory Technicians: $3,237/mo, Sales Representatives: $2,626/mo).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478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3. Structured 0–24 Month Retention Program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Implement 30-60-90-180 day structured milestone reviews and assign experienced mentors to all new hires to navigate the critical early-tenure window.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3484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079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B82F6"/>
                </a:solidFill>
              </a:defRPr>
            </a:pPr>
            <a:r>
              <a:t>4. Flexible &amp; Hybrid Commute Accommodations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Provide 2–3 days weekly remote flexibility or transit subsidies for personnel residing &gt;15–20 km away to alleviate commute friction.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6984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681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1E3A8A"/>
                </a:solidFill>
              </a:defRPr>
            </a:pPr>
            <a:r>
              <a:t>5. Transparent Career Pathways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Establish explicit advancement criteria and quarterly skills training to support retention in roles with higher observed turnover.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PREDICT &amp; RETAIN — HR WORKFORCE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3A8A"/>
                </a:solidFill>
              </a:defRPr>
            </a:pPr>
            <a:r>
              <a:t>Concluding Summary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✔ Predict &amp; Retain demonstrates that employee attrition is strongly patterned by measurable workplace conditions.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✔ Overtime status, compensation disparities, and the initial 24-month tenure window represent the highest leverage points for retention intervention.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✔ Proactive workforce analytics replaces subjective guesswork with statistically validated talent strategies.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✔ The complete end-to-end framework—from cleaning and EDA to the interactive dashboard—equips leadership with decision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3B82F6"/>
                </a:solidFill>
              </a:defRPr>
            </a:pPr>
            <a:r>
              <a:t>Future Research &amp; Expansion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🚀 Longitudinal Survival Analysis: Ingest time-series employee logs to estimate time-to-attrition survival probabilities using Cox Proportional Hazards.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🚀 Predictive Machine Learning: Develop calibrated classifier ensembles (XGBoost, Random Forest) with SHAP explainability for individual flight-risk scores.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🚀 NLP Sentiment Analysis: Analyze open-text exit interview feedback and anonymous internal pulse surveys to capture cultural nuances.</a:t>
            </a:r>
          </a:p>
          <a:p>
            <a:pPr>
              <a:spcAft>
                <a:spcPts val="800"/>
              </a:spcAft>
              <a:defRPr sz="1150">
                <a:solidFill>
                  <a:srgbClr val="0F172A"/>
                </a:solidFill>
              </a:defRPr>
            </a:pPr>
            <a:r>
              <a:t>🚀 Enterprise HRIS Integration: Connect live API endpoints to HR platforms (Workday, SAP SuccessFactors) for real-time automated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